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DD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05672" y="365760"/>
            <a:ext cx="2926080" cy="347472"/>
          </a:xfrm>
          <a:prstGeom prst="rect">
            <a:avLst/>
          </a:prstGeom>
          <a:solidFill>
            <a:srgbClr val="FDD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05672" y="365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A4000"/>
                </a:solidFill>
                <a:latin typeface="Arial"/>
              </a:rPr>
              <a:t>⚡  PROTOTYPE · DISCOVERY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DD506"/>
                </a:solidFill>
                <a:latin typeface="Arial"/>
              </a:rPr>
              <a:t>GSD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Arial"/>
              </a:rPr>
              <a:t>Get Stuff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4B5E0"/>
                </a:solidFill>
                <a:latin typeface="Arial"/>
              </a:rPr>
              <a:t>Operational Task Queue Management  ·  Internal Prototype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14800"/>
            <a:ext cx="5486400" cy="27432"/>
          </a:xfrm>
          <a:prstGeom prst="rect">
            <a:avLst/>
          </a:prstGeom>
          <a:solidFill>
            <a:srgbClr val="7A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0"/>
                </a:solidFill>
                <a:latin typeface="Arial"/>
              </a:rPr>
              <a:t>Prepared by: Daniel Glover-Silk   ·   March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996C8"/>
                </a:solidFill>
                <a:latin typeface="Arial"/>
              </a:rPr>
              <a:t>GSD — because DGS are the initials of the person who built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C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502920"/>
          </a:xfrm>
          <a:prstGeom prst="rect">
            <a:avLst/>
          </a:prstGeom>
          <a:solidFill>
            <a:srgbClr val="FA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313A"/>
                </a:solidFill>
                <a:latin typeface="Arial"/>
              </a:rPr>
              <a:t>❌  What was happening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D9313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Failed bookings &amp; duplicates arriving via spreadsheets and Slack</a:t>
            </a:r>
          </a:p>
          <a:p>
            <a:pPr algn="l"/>
            <a:r>
              <a:rPr sz="1000">
                <a:solidFill>
                  <a:srgbClr val="D9313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Agents deciding for themselves what to work on — no defined order</a:t>
            </a:r>
          </a:p>
          <a:p>
            <a:pPr algn="l"/>
            <a:r>
              <a:rPr sz="1000">
                <a:solidFill>
                  <a:srgbClr val="D9313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No visibility of urgency: overdue tasks looked the same as future ones</a:t>
            </a:r>
          </a:p>
          <a:p>
            <a:pPr algn="l"/>
            <a:r>
              <a:rPr sz="1000">
                <a:solidFill>
                  <a:srgbClr val="D9313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Managers spending time assigning tasks individually — didn't scale</a:t>
            </a:r>
          </a:p>
          <a:p>
            <a:pPr algn="l"/>
            <a:r>
              <a:rPr sz="1000">
                <a:solidFill>
                  <a:srgbClr val="D9313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No real-time view of team workload, completions, or blockers</a:t>
            </a:r>
          </a:p>
          <a:p>
            <a:pPr algn="l"/>
            <a:r>
              <a:rPr sz="1000">
                <a:solidFill>
                  <a:srgbClr val="D9313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Escalations handled ad-hoc — no audit trail of who did what</a:t>
            </a:r>
          </a:p>
          <a:p>
            <a:pPr algn="l"/>
            <a:r>
              <a:rPr sz="1000">
                <a:solidFill>
                  <a:srgbClr val="D9313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Tasks falling through the cracks, especially at shift handover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39496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2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394960" cy="502920"/>
          </a:xfrm>
          <a:prstGeom prst="rect">
            <a:avLst/>
          </a:prstGeom>
          <a:solidFill>
            <a:srgbClr val="E5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7E7A"/>
                </a:solidFill>
                <a:latin typeface="Arial"/>
              </a:rPr>
              <a:t>✅  What we're trying to achieve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47E7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A single place where all queue data arrives automatically</a:t>
            </a:r>
          </a:p>
          <a:p>
            <a:pPr algn="l"/>
            <a:r>
              <a:rPr sz="1000">
                <a:solidFill>
                  <a:srgbClr val="347E7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Agents know exactly what to work on — sorted by urgency and date</a:t>
            </a:r>
          </a:p>
          <a:p>
            <a:pPr algn="l"/>
            <a:r>
              <a:rPr sz="1000">
                <a:solidFill>
                  <a:srgbClr val="347E7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Overdue, due today, and upcoming tasks are visually distinct</a:t>
            </a:r>
          </a:p>
          <a:p>
            <a:pPr algn="l"/>
            <a:r>
              <a:rPr sz="1000">
                <a:solidFill>
                  <a:srgbClr val="347E7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Managers set queue priorities — agents self-assign from the pool</a:t>
            </a:r>
          </a:p>
          <a:p>
            <a:pPr algn="l"/>
            <a:r>
              <a:rPr sz="1000">
                <a:solidFill>
                  <a:srgbClr val="347E7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Live Daily Summary: team workload, completions, and blockers</a:t>
            </a:r>
          </a:p>
          <a:p>
            <a:pPr algn="l"/>
            <a:r>
              <a:rPr sz="1000">
                <a:solidFill>
                  <a:srgbClr val="347E7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Every action tracked: who did what, when, and what the outcome was</a:t>
            </a:r>
          </a:p>
          <a:p>
            <a:pPr algn="l"/>
            <a:r>
              <a:rPr sz="1000">
                <a:solidFill>
                  <a:srgbClr val="347E7A"/>
                </a:solidFill>
                <a:latin typeface="Arial"/>
              </a:rPr>
              <a:t>● </a:t>
            </a:r>
            <a:r>
              <a:rPr sz="1200">
                <a:solidFill>
                  <a:srgbClr val="4B5563"/>
                </a:solidFill>
                <a:latin typeface="Arial"/>
              </a:rPr>
              <a:t>Something that feels good to use — not another tool people avoid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How it works — the core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2331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43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Arial"/>
              </a:rPr>
              <a:t>Data arrives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Queues are populated from BigQuery exports and CSV uploads. Agents open the tool and the work is already there — no copy-pasting, no chasing.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577840" cy="2331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457200" cy="45720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15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143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Arial"/>
              </a:rPr>
              <a:t>Managers set priorities, not assignments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Managers rank queues in order of importance. Agents self-assign the next task in priority order. The system enforces the right order — managers don't touch individual tasks.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577840" cy="2331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75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Arial"/>
              </a:rPr>
              <a:t>Agents work task-by-task, not queue-by-queue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My Tasks shows a single prioritised list across all queues — sorted by urgency and date. Press Next and work top to bottom. No mental overhead about which queue to open.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566160"/>
            <a:ext cx="5577840" cy="2331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Arial"/>
              </a:rPr>
              <a:t>Everything is visible in real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The Daily Summary gives managers a live view of throughput, completions by agent and queue, and anything flagged as Needs Attention — without having to ask anyone.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Designed for three types of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5486400"/>
          </a:xfrm>
          <a:prstGeom prst="rect">
            <a:avLst/>
          </a:prstGeom>
          <a:solidFill>
            <a:srgbClr val="E5F0F9"/>
          </a:solidFill>
          <a:ln w="19050">
            <a:solidFill>
              <a:srgbClr val="BF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11827"/>
                </a:solidFill>
                <a:latin typeface="Arial"/>
              </a:rPr>
              <a:t>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A77B6"/>
                </a:solidFill>
                <a:latin typeface="Arial"/>
              </a:rPr>
              <a:t>The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03120"/>
            <a:ext cx="3200399" cy="27432"/>
          </a:xfrm>
          <a:prstGeom prst="rect">
            <a:avLst/>
          </a:prstGeom>
          <a:solidFill>
            <a:srgbClr val="BF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240280"/>
            <a:ext cx="34289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2A77B6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Single prioritised task list across all queues</a:t>
            </a:r>
          </a:p>
          <a:p>
            <a:pPr algn="l"/>
            <a:r>
              <a:rPr sz="900">
                <a:solidFill>
                  <a:srgbClr val="2A77B6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Sorted by urgency and date — work top to bottom</a:t>
            </a:r>
          </a:p>
          <a:p>
            <a:pPr algn="l"/>
            <a:r>
              <a:rPr sz="900">
                <a:solidFill>
                  <a:srgbClr val="2A77B6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Quick inline actions: Start, Done, Flag, Notes</a:t>
            </a:r>
          </a:p>
          <a:p>
            <a:pPr algn="l"/>
            <a:r>
              <a:rPr sz="900">
                <a:solidFill>
                  <a:srgbClr val="2A77B6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See overdue / today / upcoming at a glance</a:t>
            </a:r>
          </a:p>
          <a:p>
            <a:pPr algn="l"/>
            <a:r>
              <a:rPr sz="900">
                <a:solidFill>
                  <a:srgbClr val="2A77B6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Self-assign by claiming the next available task</a:t>
            </a:r>
          </a:p>
          <a:p>
            <a:pPr algn="l"/>
            <a:r>
              <a:rPr sz="900">
                <a:solidFill>
                  <a:srgbClr val="2A77B6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Personal progress: done today, in progress,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960120"/>
            <a:ext cx="3749039" cy="5486400"/>
          </a:xfrm>
          <a:prstGeom prst="rect">
            <a:avLst/>
          </a:prstGeom>
          <a:solidFill>
            <a:srgbClr val="EEEAF4"/>
          </a:solidFill>
          <a:ln w="1905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4300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11827"/>
                </a:solidFill>
                <a:latin typeface="Arial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0020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42E91"/>
                </a:solidFill>
                <a:latin typeface="Arial"/>
              </a:rPr>
              <a:t>The Manager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103120"/>
            <a:ext cx="3200399" cy="27432"/>
          </a:xfrm>
          <a:prstGeom prst="rect">
            <a:avLst/>
          </a:prstGeom>
          <a:solidFill>
            <a:srgbClr val="A9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240280"/>
            <a:ext cx="34289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542E91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Set queue priority order — step back</a:t>
            </a:r>
          </a:p>
          <a:p>
            <a:pPr algn="l"/>
            <a:r>
              <a:rPr sz="900">
                <a:solidFill>
                  <a:srgbClr val="542E91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Live team strip: every agent's task count &amp; status</a:t>
            </a:r>
          </a:p>
          <a:p>
            <a:pPr algn="l"/>
            <a:r>
              <a:rPr sz="900">
                <a:solidFill>
                  <a:srgbClr val="542E91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No bulk-assigning — agents pull from the queue</a:t>
            </a:r>
          </a:p>
          <a:p>
            <a:pPr algn="l"/>
            <a:r>
              <a:rPr sz="900">
                <a:solidFill>
                  <a:srgbClr val="542E91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Daily Summary: completions by agent and queue</a:t>
            </a:r>
          </a:p>
          <a:p>
            <a:pPr algn="l"/>
            <a:r>
              <a:rPr sz="900">
                <a:solidFill>
                  <a:srgbClr val="542E91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Needs Attention items highlighted immediately</a:t>
            </a:r>
          </a:p>
          <a:p>
            <a:pPr algn="l"/>
            <a:r>
              <a:rPr sz="900">
                <a:solidFill>
                  <a:srgbClr val="542E91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Full audit trail of who actioned what and when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960120"/>
            <a:ext cx="3749039" cy="5486400"/>
          </a:xfrm>
          <a:prstGeom prst="rect">
            <a:avLst/>
          </a:prstGeom>
          <a:solidFill>
            <a:srgbClr val="E5F1F0"/>
          </a:solidFill>
          <a:ln w="19050">
            <a:solidFill>
              <a:srgbClr val="C2D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4300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11827"/>
                </a:solidFill>
                <a:latin typeface="Arial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0020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7E7A"/>
                </a:solidFill>
                <a:latin typeface="Arial"/>
              </a:rPr>
              <a:t>The Analyst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2103120"/>
            <a:ext cx="3200399" cy="27432"/>
          </a:xfrm>
          <a:prstGeom prst="rect">
            <a:avLst/>
          </a:prstGeom>
          <a:solidFill>
            <a:srgbClr val="C2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240280"/>
            <a:ext cx="342899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47E7A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Upload new datasets via CSV — duplicate detection built in</a:t>
            </a:r>
          </a:p>
          <a:p>
            <a:pPr algn="l"/>
            <a:r>
              <a:rPr sz="900">
                <a:solidFill>
                  <a:srgbClr val="347E7A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Track completions by agent and queue over time</a:t>
            </a:r>
          </a:p>
          <a:p>
            <a:pPr algn="l"/>
            <a:r>
              <a:rPr sz="900">
                <a:solidFill>
                  <a:srgbClr val="347E7A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Monitor error type patterns across the queue</a:t>
            </a:r>
          </a:p>
          <a:p>
            <a:pPr algn="l"/>
            <a:r>
              <a:rPr sz="900">
                <a:solidFill>
                  <a:srgbClr val="347E7A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Date urgency distribution: overdue, today, upcoming</a:t>
            </a:r>
          </a:p>
          <a:p>
            <a:pPr algn="l"/>
            <a:r>
              <a:rPr sz="900">
                <a:solidFill>
                  <a:srgbClr val="347E7A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Queue progress chips showing completion rate</a:t>
            </a:r>
          </a:p>
          <a:p>
            <a:pPr algn="l"/>
            <a:r>
              <a:rPr sz="900">
                <a:solidFill>
                  <a:srgbClr val="347E7A"/>
                </a:solidFill>
                <a:latin typeface="Arial"/>
              </a:rPr>
              <a:t>● </a:t>
            </a:r>
            <a:r>
              <a:rPr sz="1100">
                <a:solidFill>
                  <a:srgbClr val="4B5563"/>
                </a:solidFill>
                <a:latin typeface="Arial"/>
              </a:rPr>
              <a:t>Historical reporting on the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What's in the prototype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149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Queue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Live from BigQuery + CSV upload with duplicate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0332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0149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Queue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23444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Managers rank queues — agents work the right thing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36776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99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Self-assignment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911096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Agents claim the next available task — no bulk-assigning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36776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099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69164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My Tasks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911096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Cross-queue prioritised list: urgency → date → queue rank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13432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865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6829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Needs 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587752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Flag blockers and escalations with a single click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313432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3865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36829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Daily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587752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Live completions by agent and queue, team workload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90088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44952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Per-task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26440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Add context to any task, visible across the team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2990088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063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044952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Duplicate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26440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CSV import alerts on exact duplicate rows before import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666744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7398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72160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Role-based 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9410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Agent, Manager and Owner see different things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66744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7398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72160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Multi-market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941064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UK, DE, Transfers and UK Duplicate Bookings live today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343400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416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🗂️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39826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Task archiving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61772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Clean up completed work without losing the audit trail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4343400"/>
            <a:ext cx="557784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416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827"/>
                </a:solidFill>
                <a:latin typeface="Arial"/>
              </a:rPr>
              <a:t>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39826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Arial"/>
              </a:rPr>
              <a:t>Date urgency colours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617720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Overdue · Today · Upcoming — visible at a glance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42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This is where you come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5440680"/>
          </a:xfrm>
          <a:prstGeom prst="rect">
            <a:avLst/>
          </a:prstGeom>
          <a:solidFill>
            <a:srgbClr val="FFFBE6"/>
          </a:solidFill>
          <a:ln w="19050">
            <a:solidFill>
              <a:srgbClr val="E6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2B00"/>
                </a:solidFill>
                <a:latin typeface="Arial"/>
              </a:rPr>
              <a:t>We built this to learn, not to 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2B00"/>
                </a:solidFill>
                <a:latin typeface="Arial"/>
              </a:rPr>
              <a:t>Everything in the tool today is provisional. Your honest feedback shapes what gets built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4000"/>
                </a:solidFill>
                <a:latin typeface="Arial"/>
              </a:rPr>
              <a:t>Specifically: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A4000"/>
                </a:solidFill>
                <a:latin typeface="Arial"/>
              </a:rPr>
              <a:t>● </a:t>
            </a:r>
            <a:r>
              <a:rPr sz="1200">
                <a:solidFill>
                  <a:srgbClr val="3D2B00"/>
                </a:solidFill>
                <a:latin typeface="Arial"/>
              </a:rPr>
              <a:t>Does My Tasks match how agents think about their day?</a:t>
            </a:r>
          </a:p>
          <a:p>
            <a:pPr algn="l"/>
            <a:r>
              <a:rPr sz="1000">
                <a:solidFill>
                  <a:srgbClr val="5A4000"/>
                </a:solidFill>
                <a:latin typeface="Arial"/>
              </a:rPr>
              <a:t>● </a:t>
            </a:r>
            <a:r>
              <a:rPr sz="1200">
                <a:solidFill>
                  <a:srgbClr val="3D2B00"/>
                </a:solidFill>
                <a:latin typeface="Arial"/>
              </a:rPr>
              <a:t>Would managers use queue priority ordering in practice?</a:t>
            </a:r>
          </a:p>
          <a:p>
            <a:pPr algn="l"/>
            <a:r>
              <a:rPr sz="1000">
                <a:solidFill>
                  <a:srgbClr val="5A4000"/>
                </a:solidFill>
                <a:latin typeface="Arial"/>
              </a:rPr>
              <a:t>● </a:t>
            </a:r>
            <a:r>
              <a:rPr sz="1200">
                <a:solidFill>
                  <a:srgbClr val="3D2B00"/>
                </a:solidFill>
                <a:latin typeface="Arial"/>
              </a:rPr>
              <a:t>What would make you switch from what you do today?</a:t>
            </a:r>
          </a:p>
          <a:p>
            <a:pPr algn="l"/>
            <a:r>
              <a:rPr sz="1000">
                <a:solidFill>
                  <a:srgbClr val="5A4000"/>
                </a:solidFill>
                <a:latin typeface="Arial"/>
              </a:rPr>
              <a:t>● </a:t>
            </a:r>
            <a:r>
              <a:rPr sz="1200">
                <a:solidFill>
                  <a:srgbClr val="3D2B00"/>
                </a:solidFill>
                <a:latin typeface="Arial"/>
              </a:rPr>
              <a:t>What data or reporting is missing?</a:t>
            </a:r>
          </a:p>
          <a:p>
            <a:pPr algn="l"/>
            <a:r>
              <a:rPr sz="1000">
                <a:solidFill>
                  <a:srgbClr val="5A4000"/>
                </a:solidFill>
                <a:latin typeface="Arial"/>
              </a:rPr>
              <a:t>● </a:t>
            </a:r>
            <a:r>
              <a:rPr sz="1200">
                <a:solidFill>
                  <a:srgbClr val="3D2B00"/>
                </a:solidFill>
                <a:latin typeface="Arial"/>
              </a:rPr>
              <a:t>What feels confusing, slow, or wrong — even small things?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4000"/>
                </a:solidFill>
                <a:latin typeface="Arial"/>
              </a:rPr>
              <a:t>daniel.glover-silk@holidayextras.com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5532120" cy="5440680"/>
          </a:xfrm>
          <a:prstGeom prst="rect">
            <a:avLst/>
          </a:prstGeom>
          <a:solidFill>
            <a:srgbClr val="EEEAF4"/>
          </a:solidFill>
          <a:ln w="1905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5156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42E91"/>
                </a:solidFill>
                <a:latin typeface="Arial"/>
              </a:rPr>
              <a:t>What we're exploring 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508760"/>
            <a:ext cx="4983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727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2E91"/>
                </a:solidFill>
                <a:latin typeface="Arial"/>
              </a:rPr>
              <a:t>Automated 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Daily refresh from BigQuery without manual upload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500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2E91"/>
                </a:solidFill>
                <a:latin typeface="Arial"/>
              </a:rPr>
              <a:t>Shift handover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What's in progress or unfinished at end of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063240"/>
            <a:ext cx="4983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272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2E91"/>
                </a:solidFill>
                <a:latin typeface="Arial"/>
              </a:rPr>
              <a:t>Historical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Week-on-week throughput, error types, team velocity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840480"/>
            <a:ext cx="4983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044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2E91"/>
                </a:solidFill>
                <a:latin typeface="Arial"/>
              </a:rPr>
              <a:t>Outcome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605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What happened to each task — fixed, escalated, invalid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617720"/>
            <a:ext cx="4983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8172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2E91"/>
                </a:solidFill>
                <a:latin typeface="Arial"/>
              </a:rPr>
              <a:t>SSO 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3776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Anyone at HX can access without setup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5394960"/>
            <a:ext cx="4983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9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4589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2E91"/>
                </a:solidFill>
                <a:latin typeface="Arial"/>
              </a:rPr>
              <a:t>Custom queue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7150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Any team, any structured task data — not just failures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